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Arial"/>
              </a:rPr>
              <a:t>Localization performance with and without physics-derived feature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514E"/>
                </a:solidFill>
                <a:latin typeface="Arial"/>
              </a:rPr>
              <a:t>Super-emitter benchmark: 2,000 held-out scenarios, 4–8 masts, q ~ LogU(100, 500) kg/h.  Metric ranges are the minimum and maximum across three training seeds.  Paired effects compare predictions on the same 2,000 scenarios for the prespecified seed-1 run; 95% confidence intervals from 10,000 paired-bootstrap resamples.  Negative ΔRadius and positive Δ(&lt;50 m) indicate improvement.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057400"/>
          <a:ext cx="11155679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868680"/>
                <a:gridCol w="1051560"/>
                <a:gridCol w="868680"/>
                <a:gridCol w="868680"/>
                <a:gridCol w="1051560"/>
                <a:gridCol w="868680"/>
                <a:gridCol w="1874519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36576" marR="36576" marT="18288" marB="18288">
                    <a:lnT w="20320" cap="flat">
                      <a:solidFill>
                        <a:srgbClr val="0B0B0B"/>
                      </a:solidFill>
                    </a:lnT>
                    <a:solidFill>
                      <a:srgbClr val="FCFCFB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Without feature maps</a:t>
                      </a:r>
                    </a:p>
                  </a:txBody>
                  <a:tcPr anchor="ctr" marL="36576" marR="36576" marT="18288" marB="18288">
                    <a:lnT w="20320" cap="flat">
                      <a:solidFill>
                        <a:srgbClr val="0B0B0B"/>
                      </a:solidFill>
                    </a:lnT>
                    <a:solidFill>
                      <a:srgbClr val="FCFCFB"/>
                    </a:solidFill>
                    <a:lnB w="9525" cap="flat">
                      <a:solidFill>
                        <a:srgbClr val="0B0B0B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T w="20320" cap="flat">
                      <a:solidFill>
                        <a:srgbClr val="0B0B0B"/>
                      </a:solidFill>
                    </a:lnT>
                    <a:lnB w="9525" cap="flat">
                      <a:solidFill>
                        <a:srgbClr val="0B0B0B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T w="20320" cap="flat">
                      <a:solidFill>
                        <a:srgbClr val="0B0B0B"/>
                      </a:solidFill>
                    </a:lnT>
                    <a:lnB w="9525" cap="flat">
                      <a:solidFill>
                        <a:srgbClr val="0B0B0B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With feature maps</a:t>
                      </a:r>
                    </a:p>
                  </a:txBody>
                  <a:tcPr anchor="ctr" marL="36576" marR="36576" marT="18288" marB="18288">
                    <a:lnT w="20320" cap="flat">
                      <a:solidFill>
                        <a:srgbClr val="0B0B0B"/>
                      </a:solidFill>
                    </a:lnT>
                    <a:solidFill>
                      <a:srgbClr val="FCFCFB"/>
                    </a:solidFill>
                    <a:lnB w="9525" cap="flat">
                      <a:solidFill>
                        <a:srgbClr val="0B0B0B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T w="20320" cap="flat">
                      <a:solidFill>
                        <a:srgbClr val="0B0B0B"/>
                      </a:solidFill>
                    </a:lnT>
                    <a:lnB w="9525" cap="flat">
                      <a:solidFill>
                        <a:srgbClr val="0B0B0B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T w="20320" cap="flat">
                      <a:solidFill>
                        <a:srgbClr val="0B0B0B"/>
                      </a:solidFill>
                    </a:lnT>
                    <a:lnB w="9525" cap="flat">
                      <a:solidFill>
                        <a:srgbClr val="0B0B0B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Paired effect (95% CI)</a:t>
                      </a:r>
                    </a:p>
                  </a:txBody>
                  <a:tcPr anchor="ctr" marL="36576" marR="36576" marT="18288" marB="18288">
                    <a:lnT w="20320" cap="flat">
                      <a:solidFill>
                        <a:srgbClr val="0B0B0B"/>
                      </a:solidFill>
                    </a:lnT>
                    <a:solidFill>
                      <a:srgbClr val="FCFCFB"/>
                    </a:solidFill>
                    <a:lnB w="9525" cap="flat">
                      <a:solidFill>
                        <a:srgbClr val="0B0B0B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T w="20320" cap="flat">
                      <a:solidFill>
                        <a:srgbClr val="0B0B0B"/>
                      </a:solidFill>
                    </a:lnT>
                    <a:lnB w="9525" cap="flat">
                      <a:solidFill>
                        <a:srgbClr val="0B0B0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Base network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Cov.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Radius (m)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&lt; 50 m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Cov.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Radius (m)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&lt; 50 m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ΔRadius (m)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Δ(&lt; 50 m) (pp)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12700" cap="flat">
                      <a:solidFill>
                        <a:srgbClr val="0B0B0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DeepSets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0.89–0.91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97–100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0.89–0.92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Arial"/>
                        </a:rPr>
                        <a:t>73–75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16–17%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−24.6 [−25.8, −23.0]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+16.2 [+14.6, +17.9]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GNN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68–69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1–7%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0.89–0.91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Arial"/>
                        </a:rPr>
                        <a:t>61–62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27–29%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−5.2 [−6.4, −4.2]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+20.5 [+18.6, +22.3]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Set Transformer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0.89–0.90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72–75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8–12%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0.89–0.91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  <a:latin typeface="Arial"/>
                        </a:rPr>
                        <a:t>64–65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28–30%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−10.7 [−12.1, −9.5]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0B0B"/>
                          </a:solidFill>
                          <a:latin typeface="Arial"/>
                        </a:rPr>
                        <a:t>+20.9 [+19.1, +22.7]</a:t>
                      </a:r>
                    </a:p>
                  </a:txBody>
                  <a:tcPr anchor="ctr" marL="36576" marR="36576" marT="18288" marB="18288">
                    <a:solidFill>
                      <a:srgbClr val="FCFCFB"/>
                    </a:solidFill>
                    <a:lnB w="20320" cap="flat">
                      <a:solidFill>
                        <a:srgbClr val="0B0B0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177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98781"/>
                </a:solidFill>
                <a:latin typeface="Arial"/>
              </a:rPr>
              <a:t>Computed from the frozen measured-wind conformal audits (csr-data-se48) and results/se48_table_deltas_ci.json — regenerate with generate_results_table_pptx.py.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